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9144000" cy="6858000" type="screen4x3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147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058952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E2761"/>
          </a:solidFill>
          <a:ln/>
        </p:spPr>
      </p:sp>
      <p:pic>
        <p:nvPicPr>
          <p:cNvPr id="3" name="Image 0" descr="simats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11480"/>
            <a:ext cx="5120640" cy="6583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21031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300" dirty="0">
                <a:solidFill>
                  <a:srgbClr val="3B5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SECURITY PROTOCOLS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640080" y="2468880"/>
            <a:ext cx="7863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Network Security Protocols and Defense Mechanisms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640080" y="36576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Transport Layer Security  •  SET Protocol  •  Malicious Software  •  Firewalls  •  Intrusion Detection &amp; Prevention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2743200" y="4343400"/>
            <a:ext cx="3657600" cy="0"/>
          </a:xfrm>
          <a:prstGeom prst="line">
            <a:avLst/>
          </a:prstGeom>
          <a:noFill/>
          <a:ln w="19050">
            <a:solidFill>
              <a:srgbClr val="C7D6E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45720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1A1A1A"/>
                </a:solidFill>
                <a:latin typeface="Times New Roman" pitchFamily="34" charset="0"/>
                <a:cs typeface="Times New Roman" pitchFamily="34" charset="-120"/>
              </a:rPr>
              <a:t>DHARANI KARTHICK 192521110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0292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CSA5117 –CRYPTOGRAPHY AND NETWORK SECURITY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40080" y="53949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Course Faculty : </a:t>
            </a:r>
            <a:r>
              <a:rPr lang="en-US" sz="12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Dr. R. Dharani, Professor/Edge Computing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0080" y="57150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SIMATS Engineering, SIMATS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3B5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Agenda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804672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4173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417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71600" y="1371600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Transport Layer Security (TLS)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371600" y="1673352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encrypted connections are established and trusted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231343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3134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71600" y="2267712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Secure Electronic Transaction (SET)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371600" y="2569464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Protecting online card payments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3209544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20954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71600" y="3163824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Viruses, Worms &amp; Trojans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371600" y="3465576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malicious software spreads and causes harm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" y="4105656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10565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371600" y="4059936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Firewalls &amp; Their Types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371600" y="4361688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Controlling what traffic enters or leaves a network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40080" y="5001768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50017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371600" y="4956048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IDS / IPS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1371600" y="5257800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Detecting and stopping intrusions in real time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4688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300" dirty="0">
                <a:solidFill>
                  <a:srgbClr val="9FB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2834640"/>
            <a:ext cx="7680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Transport Layer Security (TLS)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097280" y="3886200"/>
            <a:ext cx="6949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CBD8E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Securing the communication channel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3B5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Transport Layer Security?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804672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2588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Transport Layer Security (TLS) is a cryptographic protocol that secures data as it travels between two applications over a network — most commonly between a web browser and a server.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78638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Evolution: SSL 1.0/2.0/3.0 → TLS 1.0 → TLS 1.1 → TLS 1.2 → TLS 1.3 (current standard)</a:t>
            </a:r>
            <a:endParaRPr lang="en-US" sz="150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TLS sits between the Transport layer (TCP) and the Application layer (HTTP, SMTP, FTP)</a:t>
            </a:r>
            <a:endParaRPr lang="en-US" sz="150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does not change how applications work — it wraps their traffic in encryption</a:t>
            </a:r>
            <a:endParaRPr lang="en-US" sz="150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Visible to users as the padlock icon and "https://" in the browser address bar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5623560"/>
            <a:ext cx="8046720" cy="685800"/>
          </a:xfrm>
          <a:prstGeom prst="roundRect">
            <a:avLst>
              <a:gd name="adj" fmla="val 10667"/>
            </a:avLst>
          </a:prstGeom>
          <a:solidFill>
            <a:srgbClr val="EAF0FB"/>
          </a:solidFill>
          <a:ln w="12700">
            <a:solidFill>
              <a:srgbClr val="C7D6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5623560"/>
            <a:ext cx="7589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TLS, data such as passwords and card numbers travel in plain text and can be read by anyone monitoring the network.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59536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3B5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TLS is Needed — Three Core Guarantees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804672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463040"/>
            <a:ext cx="2560320" cy="2834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63040" y="1691640"/>
            <a:ext cx="914400" cy="91440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1463040" y="16916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77240" y="27889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Confidentiality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68680" y="3154680"/>
            <a:ext cx="21031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encrypted so only the intended recipient can read it, blocking eavesdroppers.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429000" y="1463040"/>
            <a:ext cx="2560320" cy="2834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3B5C8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51960" y="1691640"/>
            <a:ext cx="914400" cy="914400"/>
          </a:xfrm>
          <a:prstGeom prst="roundRect">
            <a:avLst>
              <a:gd name="adj" fmla="val 50000"/>
            </a:avLst>
          </a:prstGeom>
          <a:solidFill>
            <a:srgbClr val="3B5C8C"/>
          </a:solidFill>
          <a:ln/>
        </p:spPr>
      </p:sp>
      <p:sp>
        <p:nvSpPr>
          <p:cNvPr id="12" name="Text 10"/>
          <p:cNvSpPr/>
          <p:nvPr/>
        </p:nvSpPr>
        <p:spPr>
          <a:xfrm>
            <a:off x="4251960" y="16916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566160" y="27889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Integrity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657600" y="3154680"/>
            <a:ext cx="21031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message authentication code detects if data was altered in transit.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17920" y="1463040"/>
            <a:ext cx="2560320" cy="2834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040880" y="1691640"/>
            <a:ext cx="914400" cy="9144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17" name="Text 15"/>
          <p:cNvSpPr/>
          <p:nvPr/>
        </p:nvSpPr>
        <p:spPr>
          <a:xfrm>
            <a:off x="7040880" y="16916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355080" y="27889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Authentication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46520" y="3154680"/>
            <a:ext cx="21031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certificates verify the server's (and optionally the client's) identity.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40080" y="452628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Guards against common network attacks: eavesdropping, man-in-the-middle attacks, and data tampering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8640" y="5257800"/>
            <a:ext cx="8046720" cy="685800"/>
          </a:xfrm>
          <a:prstGeom prst="roundRect">
            <a:avLst>
              <a:gd name="adj" fmla="val 10667"/>
            </a:avLst>
          </a:prstGeom>
          <a:solidFill>
            <a:srgbClr val="EAF0FB"/>
          </a:solidFill>
          <a:ln w="12700">
            <a:solidFill>
              <a:srgbClr val="C7D6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5257800"/>
            <a:ext cx="7589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everywhere secure data moves: HTTPS websites, online banking, email (SMTPS/IMAPS), and VPNs.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59536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3B5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·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 the TLS Handshake Works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804672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41732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Client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1463040" cy="640080"/>
          </a:xfrm>
          <a:prstGeom prst="roundRect">
            <a:avLst>
              <a:gd name="adj" fmla="val 14286"/>
            </a:avLst>
          </a:prstGeom>
          <a:solidFill>
            <a:srgbClr val="EAF0FB"/>
          </a:solidFill>
          <a:ln w="19050">
            <a:solidFill>
              <a:srgbClr val="3B5C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78308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040880" y="141732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Server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040880" y="1783080"/>
            <a:ext cx="1463040" cy="640080"/>
          </a:xfrm>
          <a:prstGeom prst="roundRect">
            <a:avLst>
              <a:gd name="adj" fmla="val 14286"/>
            </a:avLst>
          </a:prstGeom>
          <a:solidFill>
            <a:srgbClr val="EAF0FB"/>
          </a:solidFill>
          <a:ln w="19050">
            <a:solidFill>
              <a:srgbClr val="3B5C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40880" y="178308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Server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286000" y="2770632"/>
            <a:ext cx="4572000" cy="128016"/>
          </a:xfrm>
          <a:prstGeom prst="rightArrow">
            <a:avLst/>
          </a:prstGeom>
          <a:solidFill>
            <a:srgbClr val="3B5C8C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898648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Hello — </a:t>
            </a: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proposes supported TLS versions and cipher suites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286000" y="3456432"/>
            <a:ext cx="4572000" cy="128016"/>
          </a:xfrm>
          <a:prstGeom prst="leftArrow">
            <a:avLst/>
          </a:prstGeom>
          <a:solidFill>
            <a:srgbClr val="C0392B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584448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Hello + Certificate — </a:t>
            </a: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selects a cipher suite and sends its digital certificate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286000" y="4142232"/>
            <a:ext cx="4572000" cy="128016"/>
          </a:xfrm>
          <a:prstGeom prst="rightArrow">
            <a:avLst/>
          </a:prstGeom>
          <a:solidFill>
            <a:srgbClr val="3B5C8C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270248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Verification — </a:t>
            </a: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checks the certificate against a trusted Certificate Authority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286000" y="4828032"/>
            <a:ext cx="4572000" cy="128016"/>
          </a:xfrm>
          <a:prstGeom prst="rightArrow">
            <a:avLst/>
          </a:prstGeom>
          <a:solidFill>
            <a:srgbClr val="3B5C8C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956048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</a:t>
            </a: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Exchange — </a:t>
            </a: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and server derive a shared session key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2286000" y="5431536"/>
            <a:ext cx="4572000" cy="91440"/>
          </a:xfrm>
          <a:prstGeom prst="rightArrow">
            <a:avLst/>
          </a:prstGeom>
          <a:solidFill>
            <a:srgbClr val="3B5C8C"/>
          </a:solidFill>
          <a:ln/>
        </p:spPr>
      </p:sp>
      <p:sp>
        <p:nvSpPr>
          <p:cNvPr id="20" name="Shape 18"/>
          <p:cNvSpPr/>
          <p:nvPr/>
        </p:nvSpPr>
        <p:spPr>
          <a:xfrm>
            <a:off x="2286000" y="5605272"/>
            <a:ext cx="4572000" cy="91440"/>
          </a:xfrm>
          <a:prstGeom prst="leftArrow">
            <a:avLst/>
          </a:prstGeom>
          <a:solidFill>
            <a:srgbClr val="C0392B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5641848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</a:t>
            </a: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Finished — Encrypted Session — </a:t>
            </a: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further data is encrypted with the session key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59536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3B5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·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TLS in Practice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804672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71600"/>
            <a:ext cx="786384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Example: visiting an online banking site</a:t>
            </a:r>
            <a:endParaRPr lang="en-US" sz="1500" dirty="0"/>
          </a:p>
          <a:p>
            <a:pPr marL="685800" lvl="1" indent="-342900">
              <a:lnSpc>
                <a:spcPct val="112000"/>
              </a:lnSpc>
              <a:spcAft>
                <a:spcPts val="600"/>
              </a:spcAft>
              <a:buSzPct val="100000"/>
              <a:buChar char="◦"/>
            </a:pPr>
            <a:r>
              <a:rPr lang="en-US" sz="14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padlock icon confirms the connection is encrypted and the server's identity is verified</a:t>
            </a:r>
            <a:endParaRPr lang="en-US" sz="1500" dirty="0"/>
          </a:p>
          <a:p>
            <a:pPr marL="685800" lvl="1" indent="-342900">
              <a:lnSpc>
                <a:spcPct val="112000"/>
              </a:lnSpc>
              <a:spcAft>
                <a:spcPts val="600"/>
              </a:spcAft>
              <a:buSzPct val="100000"/>
              <a:buChar char="◦"/>
            </a:pPr>
            <a:r>
              <a:rPr lang="en-US" sz="14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Even on a shared public Wi-Fi network, TLS keeps login credentials and account data unreadable to anyone else on the network</a:t>
            </a:r>
            <a:endParaRPr lang="en-US" sz="150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Benefits of TLS:</a:t>
            </a:r>
            <a:endParaRPr lang="en-US" sz="1500" dirty="0"/>
          </a:p>
          <a:p>
            <a:pPr marL="685800" lvl="1" indent="-342900">
              <a:lnSpc>
                <a:spcPct val="112000"/>
              </a:lnSpc>
              <a:spcAft>
                <a:spcPts val="600"/>
              </a:spcAft>
              <a:buSzPct val="100000"/>
              <a:buChar char="◦"/>
            </a:pPr>
            <a:r>
              <a:rPr lang="en-US" sz="14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Protects sensitive data such as passwords, card numbers, and personal information</a:t>
            </a:r>
            <a:endParaRPr lang="en-US" sz="1500" dirty="0"/>
          </a:p>
          <a:p>
            <a:pPr marL="685800" lvl="1" indent="-342900">
              <a:lnSpc>
                <a:spcPct val="112000"/>
              </a:lnSpc>
              <a:spcAft>
                <a:spcPts val="600"/>
              </a:spcAft>
              <a:buSzPct val="100000"/>
              <a:buChar char="◦"/>
            </a:pPr>
            <a:r>
              <a:rPr lang="en-US" sz="14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Builds user trust — browsers flag non-HTTPS sites as "Not Secure"</a:t>
            </a:r>
            <a:endParaRPr lang="en-US" sz="1500" dirty="0"/>
          </a:p>
          <a:p>
            <a:pPr marL="685800" lvl="1" indent="-342900">
              <a:lnSpc>
                <a:spcPct val="112000"/>
              </a:lnSpc>
              <a:spcAft>
                <a:spcPts val="600"/>
              </a:spcAft>
              <a:buSzPct val="100000"/>
              <a:buChar char="◦"/>
            </a:pPr>
            <a:r>
              <a:rPr lang="en-US" sz="14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TLS 1.3 also reduces handshake latency compared to earlier versions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5623560"/>
            <a:ext cx="8046720" cy="685800"/>
          </a:xfrm>
          <a:prstGeom prst="roundRect">
            <a:avLst>
              <a:gd name="adj" fmla="val 10667"/>
            </a:avLst>
          </a:prstGeom>
          <a:solidFill>
            <a:srgbClr val="EAF0FB"/>
          </a:solidFill>
          <a:ln w="12700">
            <a:solidFill>
              <a:srgbClr val="C7D6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5623560"/>
            <a:ext cx="7589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takeaway: TLS is the foundation of "https" — it turns an open, readable connection into a private, verified one.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59536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4688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300" dirty="0">
                <a:solidFill>
                  <a:srgbClr val="9FB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2834640"/>
            <a:ext cx="7680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Secure Electronic Transaction (SET)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097280" y="3886200"/>
            <a:ext cx="6949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CBD8E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Securing the payment transaction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3B5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the Secure Electronic Transaction Protocol?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804672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2588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SET is a protocol developed by Visa and Mastercard (1996) specifically to secure credit card transactions carried out over open networks like the internet.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640080" y="2240280"/>
            <a:ext cx="78638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Objectives of SET:</a:t>
            </a:r>
            <a:endParaRPr lang="en-US" sz="1500" dirty="0"/>
          </a:p>
          <a:p>
            <a:pPr marL="685800" lvl="1" indent="-342900">
              <a:lnSpc>
                <a:spcPct val="112000"/>
              </a:lnSpc>
              <a:spcAft>
                <a:spcPts val="600"/>
              </a:spcAft>
              <a:buSzPct val="100000"/>
              <a:buChar char="◦"/>
            </a:pPr>
            <a:r>
              <a:rPr lang="en-US" sz="14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Confidentiality — cardholder payment information stays private from the merchant</a:t>
            </a:r>
            <a:endParaRPr lang="en-US" sz="1500" dirty="0"/>
          </a:p>
          <a:p>
            <a:pPr marL="685800" lvl="1" indent="-342900">
              <a:lnSpc>
                <a:spcPct val="112000"/>
              </a:lnSpc>
              <a:spcAft>
                <a:spcPts val="600"/>
              </a:spcAft>
              <a:buSzPct val="100000"/>
              <a:buChar char="◦"/>
            </a:pPr>
            <a:r>
              <a:rPr lang="en-US" sz="14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Integrity — transaction data cannot be altered without detection</a:t>
            </a:r>
            <a:endParaRPr lang="en-US" sz="1500" dirty="0"/>
          </a:p>
          <a:p>
            <a:pPr marL="685800" lvl="1" indent="-342900">
              <a:lnSpc>
                <a:spcPct val="112000"/>
              </a:lnSpc>
              <a:spcAft>
                <a:spcPts val="600"/>
              </a:spcAft>
              <a:buSzPct val="100000"/>
              <a:buChar char="◦"/>
            </a:pPr>
            <a:r>
              <a:rPr lang="en-US" sz="14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Authentication — verifies both the cardholder's and the merchant's identity</a:t>
            </a:r>
            <a:endParaRPr lang="en-US" sz="1500" dirty="0"/>
          </a:p>
          <a:p>
            <a:pPr marL="685800" lvl="1" indent="-342900">
              <a:lnSpc>
                <a:spcPct val="112000"/>
              </a:lnSpc>
              <a:spcAft>
                <a:spcPts val="600"/>
              </a:spcAft>
              <a:buSzPct val="100000"/>
              <a:buChar char="◦"/>
            </a:pPr>
            <a:r>
              <a:rPr lang="en-US" sz="14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Interoperability — works across different hardware, software, and networks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5623560"/>
            <a:ext cx="8046720" cy="685800"/>
          </a:xfrm>
          <a:prstGeom prst="roundRect">
            <a:avLst>
              <a:gd name="adj" fmla="val 10667"/>
            </a:avLst>
          </a:prstGeom>
          <a:solidFill>
            <a:srgbClr val="EAF0FB"/>
          </a:solidFill>
          <a:ln w="12700">
            <a:solidFill>
              <a:srgbClr val="C7D6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5623560"/>
            <a:ext cx="7589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TLS (which secures the channel), SET secures the transaction itself — even the merchant never sees the full card number.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59536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3B5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Participants in a SET Transaction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804672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54480"/>
            <a:ext cx="1572768" cy="1463040"/>
          </a:xfrm>
          <a:prstGeom prst="roundRect">
            <a:avLst>
              <a:gd name="adj" fmla="val 5000"/>
            </a:avLst>
          </a:prstGeom>
          <a:solidFill>
            <a:srgbClr val="EAF0FB"/>
          </a:solidFill>
          <a:ln w="15240">
            <a:solidFill>
              <a:srgbClr val="3B5C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645920"/>
            <a:ext cx="14264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Cardholder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40080" y="2148840"/>
            <a:ext cx="138988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making the purchase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139696" y="2148840"/>
            <a:ext cx="128016" cy="182880"/>
          </a:xfrm>
          <a:prstGeom prst="rightArrow">
            <a:avLst/>
          </a:prstGeom>
          <a:solidFill>
            <a:srgbClr val="3B5C8C"/>
          </a:solidFill>
          <a:ln/>
        </p:spPr>
      </p:sp>
      <p:sp>
        <p:nvSpPr>
          <p:cNvPr id="9" name="Shape 7"/>
          <p:cNvSpPr/>
          <p:nvPr/>
        </p:nvSpPr>
        <p:spPr>
          <a:xfrm>
            <a:off x="2304288" y="1554480"/>
            <a:ext cx="1572768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3B5C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77440" y="1645920"/>
            <a:ext cx="14264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Merchant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395728" y="2148840"/>
            <a:ext cx="138988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Sells goods/services online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895344" y="2148840"/>
            <a:ext cx="128016" cy="182880"/>
          </a:xfrm>
          <a:prstGeom prst="rightArrow">
            <a:avLst/>
          </a:prstGeom>
          <a:solidFill>
            <a:srgbClr val="3B5C8C"/>
          </a:solidFill>
          <a:ln/>
        </p:spPr>
      </p:sp>
      <p:sp>
        <p:nvSpPr>
          <p:cNvPr id="13" name="Shape 11"/>
          <p:cNvSpPr/>
          <p:nvPr/>
        </p:nvSpPr>
        <p:spPr>
          <a:xfrm>
            <a:off x="4059936" y="1554480"/>
            <a:ext cx="1572768" cy="1463040"/>
          </a:xfrm>
          <a:prstGeom prst="roundRect">
            <a:avLst>
              <a:gd name="adj" fmla="val 5000"/>
            </a:avLst>
          </a:prstGeom>
          <a:solidFill>
            <a:srgbClr val="EAF0FB"/>
          </a:solidFill>
          <a:ln w="15240">
            <a:solidFill>
              <a:srgbClr val="3B5C8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33088" y="1645920"/>
            <a:ext cx="14264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Issuer Bank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151376" y="2148840"/>
            <a:ext cx="138988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Cardholder's bank; issued the card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650992" y="2148840"/>
            <a:ext cx="128016" cy="182880"/>
          </a:xfrm>
          <a:prstGeom prst="rightArrow">
            <a:avLst/>
          </a:prstGeom>
          <a:solidFill>
            <a:srgbClr val="3B5C8C"/>
          </a:solidFill>
          <a:ln/>
        </p:spPr>
      </p:sp>
      <p:sp>
        <p:nvSpPr>
          <p:cNvPr id="17" name="Shape 15"/>
          <p:cNvSpPr/>
          <p:nvPr/>
        </p:nvSpPr>
        <p:spPr>
          <a:xfrm>
            <a:off x="5815584" y="1554480"/>
            <a:ext cx="1572768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3B5C8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88736" y="1645920"/>
            <a:ext cx="14264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Acquirer Bank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907024" y="2148840"/>
            <a:ext cx="138988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Merchant's bank; processes payment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406640" y="2148840"/>
            <a:ext cx="128016" cy="182880"/>
          </a:xfrm>
          <a:prstGeom prst="rightArrow">
            <a:avLst/>
          </a:prstGeom>
          <a:solidFill>
            <a:srgbClr val="3B5C8C"/>
          </a:solidFill>
          <a:ln/>
        </p:spPr>
      </p:sp>
      <p:sp>
        <p:nvSpPr>
          <p:cNvPr id="21" name="Shape 19"/>
          <p:cNvSpPr/>
          <p:nvPr/>
        </p:nvSpPr>
        <p:spPr>
          <a:xfrm>
            <a:off x="7571232" y="1554480"/>
            <a:ext cx="1572768" cy="1463040"/>
          </a:xfrm>
          <a:prstGeom prst="roundRect">
            <a:avLst>
              <a:gd name="adj" fmla="val 5000"/>
            </a:avLst>
          </a:prstGeom>
          <a:solidFill>
            <a:srgbClr val="EAF0FB"/>
          </a:solidFill>
          <a:ln w="15240">
            <a:solidFill>
              <a:srgbClr val="3B5C8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44384" y="1645920"/>
            <a:ext cx="14264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Payment Gateway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662672" y="2148840"/>
            <a:ext cx="138988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Bridges merchant and banking networks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40080" y="3383280"/>
            <a:ext cx="78638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Dual Signature (key innovation):</a:t>
            </a:r>
            <a:endParaRPr lang="en-US" sz="1500" dirty="0"/>
          </a:p>
          <a:p>
            <a:pPr marL="685800" lvl="1" indent="-342900">
              <a:lnSpc>
                <a:spcPct val="112000"/>
              </a:lnSpc>
              <a:spcAft>
                <a:spcPts val="600"/>
              </a:spcAft>
              <a:buSzPct val="100000"/>
              <a:buChar char="◦"/>
            </a:pPr>
            <a:r>
              <a:rPr lang="en-US" sz="14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Links order information and payment information so each party sees only what it needs</a:t>
            </a:r>
            <a:endParaRPr lang="en-US" sz="1500" dirty="0"/>
          </a:p>
          <a:p>
            <a:pPr marL="685800" lvl="1" indent="-342900">
              <a:lnSpc>
                <a:spcPct val="112000"/>
              </a:lnSpc>
              <a:spcAft>
                <a:spcPts val="600"/>
              </a:spcAft>
              <a:buSzPct val="100000"/>
              <a:buChar char="◦"/>
            </a:pPr>
            <a:r>
              <a:rPr lang="en-US" sz="14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Merchant sees the order details but never the card number</a:t>
            </a:r>
            <a:endParaRPr lang="en-US" sz="1500" dirty="0"/>
          </a:p>
          <a:p>
            <a:pPr marL="685800" lvl="1" indent="-342900">
              <a:lnSpc>
                <a:spcPct val="112000"/>
              </a:lnSpc>
              <a:spcAft>
                <a:spcPts val="600"/>
              </a:spcAft>
              <a:buSzPct val="100000"/>
              <a:buChar char="◦"/>
            </a:pPr>
            <a:r>
              <a:rPr lang="en-US" sz="14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Bank sees the payment details but never the order contents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59536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3B5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·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 a SET Transaction Flows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804672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71600"/>
            <a:ext cx="78638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 Cardholder places an order and initiates payment through the merchant's site</a:t>
            </a:r>
            <a:endParaRPr lang="en-US" sz="150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 Merchant forwards the encrypted payment portion to the payment gateway</a:t>
            </a:r>
            <a:endParaRPr lang="en-US" sz="150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  Payment gateway verifies the card and authorization with the issuer bank</a:t>
            </a:r>
            <a:endParaRPr lang="en-US" sz="150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4.  Issuer bank approves or declines the transaction</a:t>
            </a:r>
            <a:endParaRPr lang="en-US" sz="150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5.  Merchant receives confirmation and completes the order — without ever seeing the card number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5623560"/>
            <a:ext cx="8046720" cy="685800"/>
          </a:xfrm>
          <a:prstGeom prst="roundRect">
            <a:avLst>
              <a:gd name="adj" fmla="val 10667"/>
            </a:avLst>
          </a:prstGeom>
          <a:solidFill>
            <a:srgbClr val="EAF0FB"/>
          </a:solidFill>
          <a:ln w="12700">
            <a:solidFill>
              <a:srgbClr val="C7D6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5623560"/>
            <a:ext cx="7589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analogy: like handing a sealed envelope with your card details straight to the bank, while the shop only sees the receipt.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59536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4688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300" dirty="0">
                <a:solidFill>
                  <a:srgbClr val="9FB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2834640"/>
            <a:ext cx="7680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Viruses, Worms &amp; Trojans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097280" y="3886200"/>
            <a:ext cx="6949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CBD8E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Understanding the threats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3B5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MALWARE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Viruses, Worms, and Trojans — Overview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804672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2588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Malware (malicious software) is any program designed to damage, disrupt, or gain unauthorized access to a computer system. Viruses, worms, and Trojans are three of the most common categories.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40080" y="2514600"/>
            <a:ext cx="256032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00200" y="269748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1600200" y="2697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31520" y="3429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Virus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374904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Attaches to a host file/program; spreads when the infected file runs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429000" y="2514600"/>
            <a:ext cx="256032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3B5C8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89120" y="269748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3B5C8C"/>
          </a:solidFill>
          <a:ln/>
        </p:spPr>
      </p:sp>
      <p:sp>
        <p:nvSpPr>
          <p:cNvPr id="13" name="Text 11"/>
          <p:cNvSpPr/>
          <p:nvPr/>
        </p:nvSpPr>
        <p:spPr>
          <a:xfrm>
            <a:off x="4389120" y="2697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520440" y="3429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Worm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611880" y="374904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 program; self-replicates and spreads across networks with no user action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17920" y="2514600"/>
            <a:ext cx="256032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178040" y="269748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18" name="Text 16"/>
          <p:cNvSpPr/>
          <p:nvPr/>
        </p:nvSpPr>
        <p:spPr>
          <a:xfrm>
            <a:off x="7178040" y="2697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309360" y="3429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Trojan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00800" y="374904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Disguises as legitimate software to trick users into installing it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59536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3B5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MALWARE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Virus and Worm — A Closer Look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804672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Virus</a:t>
            </a:r>
            <a:endParaRPr lang="en-US" sz="1500" dirty="0"/>
          </a:p>
          <a:p>
            <a:pPr marL="685800" lvl="1" indent="-342900">
              <a:lnSpc>
                <a:spcPct val="112000"/>
              </a:lnSpc>
              <a:spcAft>
                <a:spcPts val="600"/>
              </a:spcAft>
              <a:buSzPct val="100000"/>
              <a:buChar char="◦"/>
            </a:pPr>
            <a:r>
              <a:rPr lang="en-US" sz="14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Requires a host file (document, executable) and a user action (opening/running it) to activate</a:t>
            </a:r>
            <a:endParaRPr lang="en-US" sz="1500" dirty="0"/>
          </a:p>
          <a:p>
            <a:pPr marL="685800" lvl="1" indent="-342900">
              <a:lnSpc>
                <a:spcPct val="112000"/>
              </a:lnSpc>
              <a:spcAft>
                <a:spcPts val="600"/>
              </a:spcAft>
              <a:buSzPct val="100000"/>
              <a:buChar char="◦"/>
            </a:pPr>
            <a:r>
              <a:rPr lang="en-US" sz="14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Spreads when the infected file is shared, copied, or executed</a:t>
            </a:r>
            <a:endParaRPr lang="en-US" sz="1500" dirty="0"/>
          </a:p>
          <a:p>
            <a:pPr marL="685800" lvl="1" indent="-342900">
              <a:lnSpc>
                <a:spcPct val="112000"/>
              </a:lnSpc>
              <a:spcAft>
                <a:spcPts val="600"/>
              </a:spcAft>
              <a:buSzPct val="100000"/>
              <a:buChar char="◦"/>
            </a:pPr>
            <a:r>
              <a:rPr lang="en-US" sz="14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Example: a macro virus hidden inside a Word document attachment</a:t>
            </a:r>
            <a:endParaRPr lang="en-US" sz="150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b="1" dirty="0">
                <a:solidFill>
                  <a:srgbClr val="3B5C8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Worm</a:t>
            </a:r>
            <a:endParaRPr lang="en-US" sz="1500" dirty="0"/>
          </a:p>
          <a:p>
            <a:pPr marL="685800" lvl="1" indent="-342900">
              <a:lnSpc>
                <a:spcPct val="112000"/>
              </a:lnSpc>
              <a:spcAft>
                <a:spcPts val="600"/>
              </a:spcAft>
              <a:buSzPct val="100000"/>
              <a:buChar char="◦"/>
            </a:pPr>
            <a:r>
              <a:rPr lang="en-US" sz="14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Does not need a host file — it is a complete, independent program</a:t>
            </a:r>
            <a:endParaRPr lang="en-US" sz="1500" dirty="0"/>
          </a:p>
          <a:p>
            <a:pPr marL="685800" lvl="1" indent="-342900">
              <a:lnSpc>
                <a:spcPct val="112000"/>
              </a:lnSpc>
              <a:spcAft>
                <a:spcPts val="600"/>
              </a:spcAft>
              <a:buSzPct val="100000"/>
              <a:buChar char="◦"/>
            </a:pPr>
            <a:r>
              <a:rPr lang="en-US" sz="14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Exploits network or software vulnerabilities to copy itself to other machines automatically</a:t>
            </a:r>
            <a:endParaRPr lang="en-US" sz="1500" dirty="0"/>
          </a:p>
          <a:p>
            <a:pPr marL="685800" lvl="1" indent="-342900">
              <a:lnSpc>
                <a:spcPct val="112000"/>
              </a:lnSpc>
              <a:spcAft>
                <a:spcPts val="600"/>
              </a:spcAft>
              <a:buSzPct val="100000"/>
              <a:buChar char="◦"/>
            </a:pPr>
            <a:r>
              <a:rPr lang="en-US" sz="14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Example: WannaCry (2017) spread across networks using a Windows SMB vulnerability, encrypting files for ransom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59536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3B5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MALWARE ·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Trojan Horse — A Closer Look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804672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71600"/>
            <a:ext cx="786384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Named after the legendary Trojan Horse — appears useful or harmless, but hides a malicious payload</a:t>
            </a:r>
            <a:endParaRPr lang="en-US" sz="145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Does not self-replicate like a virus or worm; relies on tricking the user into installing it</a:t>
            </a:r>
            <a:endParaRPr lang="en-US" sz="145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Common disguises: cracked software, fake updates, email attachments, malicious ads</a:t>
            </a:r>
            <a:endParaRPr lang="en-US" sz="145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Once installed, a Trojan may:</a:t>
            </a:r>
            <a:endParaRPr lang="en-US" sz="1450" dirty="0"/>
          </a:p>
          <a:p>
            <a:pPr marL="685800" lvl="1" indent="-342900">
              <a:lnSpc>
                <a:spcPct val="112000"/>
              </a:lnSpc>
              <a:spcAft>
                <a:spcPts val="600"/>
              </a:spcAft>
              <a:buSzPct val="100000"/>
              <a:buChar char="◦"/>
            </a:pPr>
            <a:r>
              <a:rPr lang="en-US" sz="13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Open a hidden "backdoor" for remote attacker access</a:t>
            </a:r>
            <a:endParaRPr lang="en-US" sz="1450" dirty="0"/>
          </a:p>
          <a:p>
            <a:pPr marL="685800" lvl="1" indent="-342900">
              <a:lnSpc>
                <a:spcPct val="112000"/>
              </a:lnSpc>
              <a:spcAft>
                <a:spcPts val="600"/>
              </a:spcAft>
              <a:buSzPct val="100000"/>
              <a:buChar char="◦"/>
            </a:pPr>
            <a:r>
              <a:rPr lang="en-US" sz="13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Steal saved passwords, files, or banking information</a:t>
            </a:r>
            <a:endParaRPr lang="en-US" sz="1450" dirty="0"/>
          </a:p>
          <a:p>
            <a:pPr marL="685800" lvl="1" indent="-342900">
              <a:lnSpc>
                <a:spcPct val="112000"/>
              </a:lnSpc>
              <a:spcAft>
                <a:spcPts val="600"/>
              </a:spcAft>
              <a:buSzPct val="100000"/>
              <a:buChar char="◦"/>
            </a:pPr>
            <a:r>
              <a:rPr lang="en-US" sz="13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Download further malware onto the system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859536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3B5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MALWARE ·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Virus vs Worm vs Trojan — Comparison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804672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8046720" cy="292608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852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Virus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Trojan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Needs a host file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(self-contained)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Needs user action to spread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(installation)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Self-replicates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Typical goal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Corrupt/destroy files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Consume bandwidth, spread fast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 backdoor, steal data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663440"/>
            <a:ext cx="8046720" cy="685800"/>
          </a:xfrm>
          <a:prstGeom prst="roundRect">
            <a:avLst>
              <a:gd name="adj" fmla="val 10667"/>
            </a:avLst>
          </a:prstGeom>
          <a:solidFill>
            <a:srgbClr val="EAF0FB"/>
          </a:solidFill>
          <a:ln w="12700">
            <a:solidFill>
              <a:srgbClr val="C7D6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7240" y="4663440"/>
            <a:ext cx="7589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many modern threats blend these behaviours — e.g. a Trojan that also self-replicates like a worm.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859536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3B5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MALWARE ·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Effects and Protection Measures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804672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71600"/>
            <a:ext cx="786384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Common effects: data corruption or loss, system slowdown, unauthorized access, financial theft, ransom demands</a:t>
            </a:r>
            <a:endParaRPr lang="en-US" sz="150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Protection measures:</a:t>
            </a:r>
            <a:endParaRPr lang="en-US" sz="1500" dirty="0"/>
          </a:p>
          <a:p>
            <a:pPr marL="685800" lvl="1" indent="-342900">
              <a:lnSpc>
                <a:spcPct val="112000"/>
              </a:lnSpc>
              <a:spcAft>
                <a:spcPts val="600"/>
              </a:spcAft>
              <a:buSzPct val="100000"/>
              <a:buChar char="◦"/>
            </a:pPr>
            <a:r>
              <a:rPr lang="en-US" sz="14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Keep antivirus/anti-malware software installed and updated</a:t>
            </a:r>
            <a:endParaRPr lang="en-US" sz="1500" dirty="0"/>
          </a:p>
          <a:p>
            <a:pPr marL="685800" lvl="1" indent="-342900">
              <a:lnSpc>
                <a:spcPct val="112000"/>
              </a:lnSpc>
              <a:spcAft>
                <a:spcPts val="600"/>
              </a:spcAft>
              <a:buSzPct val="100000"/>
              <a:buChar char="◦"/>
            </a:pPr>
            <a:r>
              <a:rPr lang="en-US" sz="14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Apply operating system and software security patches promptly</a:t>
            </a:r>
            <a:endParaRPr lang="en-US" sz="1500" dirty="0"/>
          </a:p>
          <a:p>
            <a:pPr marL="685800" lvl="1" indent="-342900">
              <a:lnSpc>
                <a:spcPct val="112000"/>
              </a:lnSpc>
              <a:spcAft>
                <a:spcPts val="600"/>
              </a:spcAft>
              <a:buSzPct val="100000"/>
              <a:buChar char="◦"/>
            </a:pPr>
            <a:r>
              <a:rPr lang="en-US" sz="14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Avoid opening unknown email attachments or downloading pirated software</a:t>
            </a:r>
            <a:endParaRPr lang="en-US" sz="1500" dirty="0"/>
          </a:p>
          <a:p>
            <a:pPr marL="685800" lvl="1" indent="-342900">
              <a:lnSpc>
                <a:spcPct val="112000"/>
              </a:lnSpc>
              <a:spcAft>
                <a:spcPts val="600"/>
              </a:spcAft>
              <a:buSzPct val="100000"/>
              <a:buChar char="◦"/>
            </a:pPr>
            <a:r>
              <a:rPr lang="en-US" sz="14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Use a firewall to limit unwanted network access</a:t>
            </a:r>
            <a:endParaRPr lang="en-US" sz="1500" dirty="0"/>
          </a:p>
          <a:p>
            <a:pPr marL="685800" lvl="1" indent="-342900">
              <a:lnSpc>
                <a:spcPct val="112000"/>
              </a:lnSpc>
              <a:spcAft>
                <a:spcPts val="600"/>
              </a:spcAft>
              <a:buSzPct val="100000"/>
              <a:buChar char="◦"/>
            </a:pPr>
            <a:r>
              <a:rPr lang="en-US" sz="14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Take regular backups so data can be restored without paying a ransom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59536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4688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300" dirty="0">
                <a:solidFill>
                  <a:srgbClr val="9FB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2834640"/>
            <a:ext cx="7680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Firewalls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097280" y="3886200"/>
            <a:ext cx="6949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CBD8E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Controlling network traffic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3B5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FIREWALLS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a Firewall?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804672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2588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firewall is a network security device or software that monitors and controls incoming and outgoing traffic based on a defined set of rules.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731520" y="2468880"/>
            <a:ext cx="2011680" cy="1005840"/>
          </a:xfrm>
          <a:prstGeom prst="roundRect">
            <a:avLst>
              <a:gd name="adj" fmla="val 7273"/>
            </a:avLst>
          </a:prstGeom>
          <a:solidFill>
            <a:srgbClr val="FBE7E6"/>
          </a:solidFill>
          <a:ln w="1651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468880"/>
            <a:ext cx="2011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(Untrusted)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566160" y="2331720"/>
            <a:ext cx="2011680" cy="1280160"/>
          </a:xfrm>
          <a:prstGeom prst="roundRect">
            <a:avLst>
              <a:gd name="adj" fmla="val 7143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3566160" y="2331720"/>
            <a:ext cx="20116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FIREWALL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0" y="2468880"/>
            <a:ext cx="2011680" cy="1005840"/>
          </a:xfrm>
          <a:prstGeom prst="roundRect">
            <a:avLst>
              <a:gd name="adj" fmla="val 7273"/>
            </a:avLst>
          </a:prstGeom>
          <a:solidFill>
            <a:srgbClr val="EAF0FB"/>
          </a:solidFill>
          <a:ln w="16510">
            <a:solidFill>
              <a:srgbClr val="3B5C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2468880"/>
            <a:ext cx="2011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B5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Network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3B5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(Trusted)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88920" y="2788920"/>
            <a:ext cx="731520" cy="320040"/>
          </a:xfrm>
          <a:prstGeom prst="rightArrow">
            <a:avLst/>
          </a:prstGeom>
          <a:solidFill>
            <a:srgbClr val="5A5A5A"/>
          </a:solidFill>
          <a:ln/>
        </p:spPr>
      </p:sp>
      <p:sp>
        <p:nvSpPr>
          <p:cNvPr id="13" name="Shape 11"/>
          <p:cNvSpPr/>
          <p:nvPr/>
        </p:nvSpPr>
        <p:spPr>
          <a:xfrm>
            <a:off x="5623560" y="2788920"/>
            <a:ext cx="731520" cy="320040"/>
          </a:xfrm>
          <a:prstGeom prst="rightArrow">
            <a:avLst/>
          </a:prstGeom>
          <a:solidFill>
            <a:srgbClr val="5A5A5A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977640"/>
            <a:ext cx="78638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Acts as a barrier between a trusted internal network and untrusted external networks</a:t>
            </a:r>
            <a:endParaRPr lang="en-US" sz="145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Filters traffic using rules based on source/destination IP address, port number, and protocol</a:t>
            </a:r>
            <a:endParaRPr lang="en-US" sz="145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Can be implemented as hardware, software, or a combination of both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59536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3B5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FIREWALLS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Types of Firewalls (Part 1)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804672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71600"/>
            <a:ext cx="786384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Packet-Filtering Firewall</a:t>
            </a:r>
            <a:endParaRPr lang="en-US" sz="1500" dirty="0"/>
          </a:p>
          <a:p>
            <a:pPr marL="685800" lvl="1" indent="-342900">
              <a:lnSpc>
                <a:spcPct val="112000"/>
              </a:lnSpc>
              <a:spcAft>
                <a:spcPts val="600"/>
              </a:spcAft>
              <a:buSzPct val="100000"/>
              <a:buChar char="◦"/>
            </a:pPr>
            <a:r>
              <a:rPr lang="en-US" sz="14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Examines each packet's header (source/destination IP, port) against a rule set</a:t>
            </a:r>
            <a:endParaRPr lang="en-US" sz="1500" dirty="0"/>
          </a:p>
          <a:p>
            <a:pPr marL="685800" lvl="1" indent="-342900">
              <a:lnSpc>
                <a:spcPct val="112000"/>
              </a:lnSpc>
              <a:spcAft>
                <a:spcPts val="600"/>
              </a:spcAft>
              <a:buSzPct val="100000"/>
              <a:buChar char="◦"/>
            </a:pPr>
            <a:r>
              <a:rPr lang="en-US" sz="14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Fast and simple, but cannot inspect the actual content of traffic</a:t>
            </a:r>
            <a:endParaRPr lang="en-US" sz="150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b="1" dirty="0">
                <a:solidFill>
                  <a:srgbClr val="3B5C8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Stateful Inspection Firewall</a:t>
            </a:r>
            <a:endParaRPr lang="en-US" sz="1500" dirty="0"/>
          </a:p>
          <a:p>
            <a:pPr marL="685800" lvl="1" indent="-342900">
              <a:lnSpc>
                <a:spcPct val="112000"/>
              </a:lnSpc>
              <a:spcAft>
                <a:spcPts val="600"/>
              </a:spcAft>
              <a:buSzPct val="100000"/>
              <a:buChar char="◦"/>
            </a:pPr>
            <a:r>
              <a:rPr lang="en-US" sz="14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Tracks the state of active connections, not just individual packets</a:t>
            </a:r>
            <a:endParaRPr lang="en-US" sz="1500" dirty="0"/>
          </a:p>
          <a:p>
            <a:pPr marL="685800" lvl="1" indent="-342900">
              <a:lnSpc>
                <a:spcPct val="112000"/>
              </a:lnSpc>
              <a:spcAft>
                <a:spcPts val="600"/>
              </a:spcAft>
              <a:buSzPct val="100000"/>
              <a:buChar char="◦"/>
            </a:pPr>
            <a:r>
              <a:rPr lang="en-US" sz="14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Allows return traffic that belongs to an already-approved connection</a:t>
            </a:r>
            <a:endParaRPr lang="en-US" sz="1500" dirty="0"/>
          </a:p>
          <a:p>
            <a:pPr marL="685800" lvl="1" indent="-342900">
              <a:lnSpc>
                <a:spcPct val="112000"/>
              </a:lnSpc>
              <a:spcAft>
                <a:spcPts val="600"/>
              </a:spcAft>
              <a:buSzPct val="100000"/>
              <a:buChar char="◦"/>
            </a:pPr>
            <a:r>
              <a:rPr lang="en-US" sz="14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More secure than simple packet filtering, at some cost to speed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59536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3B5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FIREWALLS ·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Types of Firewalls (Part 2)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804672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71600"/>
            <a:ext cx="786384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Proxy Firewall (Application-Level Gateway)</a:t>
            </a:r>
            <a:endParaRPr lang="en-US" sz="1500" dirty="0"/>
          </a:p>
          <a:p>
            <a:pPr marL="685800" lvl="1" indent="-342900">
              <a:lnSpc>
                <a:spcPct val="112000"/>
              </a:lnSpc>
              <a:spcAft>
                <a:spcPts val="600"/>
              </a:spcAft>
              <a:buSzPct val="100000"/>
              <a:buChar char="◦"/>
            </a:pPr>
            <a:r>
              <a:rPr lang="en-US" sz="14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Acts as an intermediary — the client and server never connect directly</a:t>
            </a:r>
            <a:endParaRPr lang="en-US" sz="1500" dirty="0"/>
          </a:p>
          <a:p>
            <a:pPr marL="685800" lvl="1" indent="-342900">
              <a:lnSpc>
                <a:spcPct val="112000"/>
              </a:lnSpc>
              <a:spcAft>
                <a:spcPts val="600"/>
              </a:spcAft>
              <a:buSzPct val="100000"/>
              <a:buChar char="◦"/>
            </a:pPr>
            <a:r>
              <a:rPr lang="en-US" sz="14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Inspects traffic at the application layer, e.g. HTTP requests</a:t>
            </a:r>
            <a:endParaRPr lang="en-US" sz="150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b="1" dirty="0">
                <a:solidFill>
                  <a:srgbClr val="C039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Next-Generation Firewall (NGFW)</a:t>
            </a:r>
            <a:endParaRPr lang="en-US" sz="1500" dirty="0"/>
          </a:p>
          <a:p>
            <a:pPr marL="685800" lvl="1" indent="-342900">
              <a:lnSpc>
                <a:spcPct val="112000"/>
              </a:lnSpc>
              <a:spcAft>
                <a:spcPts val="600"/>
              </a:spcAft>
              <a:buSzPct val="100000"/>
              <a:buChar char="◦"/>
            </a:pPr>
            <a:r>
              <a:rPr lang="en-US" sz="14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Combines traditional filtering with deep packet inspection and intrusion prevention</a:t>
            </a:r>
            <a:endParaRPr lang="en-US" sz="1500" dirty="0"/>
          </a:p>
          <a:p>
            <a:pPr marL="685800" lvl="1" indent="-342900">
              <a:lnSpc>
                <a:spcPct val="112000"/>
              </a:lnSpc>
              <a:spcAft>
                <a:spcPts val="600"/>
              </a:spcAft>
              <a:buSzPct val="100000"/>
              <a:buChar char="◦"/>
            </a:pPr>
            <a:r>
              <a:rPr lang="en-US" sz="14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Application-aware — can identify and control specific apps (e.g. block one app, allow another) regardless of port</a:t>
            </a:r>
            <a:endParaRPr lang="en-US" sz="1500" dirty="0"/>
          </a:p>
          <a:p>
            <a:pPr marL="685800" lvl="1" indent="-342900">
              <a:lnSpc>
                <a:spcPct val="112000"/>
              </a:lnSpc>
              <a:spcAft>
                <a:spcPts val="600"/>
              </a:spcAft>
              <a:buSzPct val="100000"/>
              <a:buChar char="◦"/>
            </a:pPr>
            <a:r>
              <a:rPr lang="en-US" sz="14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Often includes built-in threat intelligence feeds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5623560"/>
            <a:ext cx="8046720" cy="685800"/>
          </a:xfrm>
          <a:prstGeom prst="roundRect">
            <a:avLst>
              <a:gd name="adj" fmla="val 10667"/>
            </a:avLst>
          </a:prstGeom>
          <a:solidFill>
            <a:srgbClr val="EAF0FB"/>
          </a:solidFill>
          <a:ln w="12700">
            <a:solidFill>
              <a:srgbClr val="C7D6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5623560"/>
            <a:ext cx="7589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Trend: most modern organizations deploy NGFWs, layering multiple inspection techniques in a single device.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59536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4688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300" dirty="0">
                <a:solidFill>
                  <a:srgbClr val="9FB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2834640"/>
            <a:ext cx="7680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Intrusion Detection / Prevention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097280" y="3886200"/>
            <a:ext cx="6949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CBD8E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Watching for attacks in real time</a:t>
            </a:r>
            <a:endParaRPr lang="en-US" sz="1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3B5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IDS/IPS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Intrusion Detection / Prevention Systems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804672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71600"/>
            <a:ext cx="786384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IDS (Intrusion Detection System)</a:t>
            </a:r>
            <a:endParaRPr lang="en-US" sz="1500" dirty="0"/>
          </a:p>
          <a:p>
            <a:pPr marL="685800" lvl="1" indent="-342900">
              <a:lnSpc>
                <a:spcPct val="112000"/>
              </a:lnSpc>
              <a:spcAft>
                <a:spcPts val="600"/>
              </a:spcAft>
              <a:buSzPct val="100000"/>
              <a:buChar char="◦"/>
            </a:pPr>
            <a:r>
              <a:rPr lang="en-US" sz="14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Passively monitors network or host traffic and alerts administrators to suspicious activity</a:t>
            </a:r>
            <a:endParaRPr lang="en-US" sz="1500" dirty="0"/>
          </a:p>
          <a:p>
            <a:pPr marL="685800" lvl="1" indent="-342900">
              <a:lnSpc>
                <a:spcPct val="112000"/>
              </a:lnSpc>
              <a:spcAft>
                <a:spcPts val="600"/>
              </a:spcAft>
              <a:buSzPct val="100000"/>
              <a:buChar char="◦"/>
            </a:pPr>
            <a:r>
              <a:rPr lang="en-US" sz="14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Does not block traffic itself — a human or another system must act on its alerts</a:t>
            </a:r>
            <a:endParaRPr lang="en-US" sz="150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b="1" dirty="0">
                <a:solidFill>
                  <a:srgbClr val="C039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IPS (Intrusion Prevention System)</a:t>
            </a:r>
            <a:endParaRPr lang="en-US" sz="1500" dirty="0"/>
          </a:p>
          <a:p>
            <a:pPr marL="685800" lvl="1" indent="-342900">
              <a:lnSpc>
                <a:spcPct val="112000"/>
              </a:lnSpc>
              <a:spcAft>
                <a:spcPts val="600"/>
              </a:spcAft>
              <a:buSzPct val="100000"/>
              <a:buChar char="◦"/>
            </a:pPr>
            <a:r>
              <a:rPr lang="en-US" sz="14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Sits in-line with traffic, actively blocking or dropping packets identified as malicious</a:t>
            </a:r>
            <a:endParaRPr lang="en-US" sz="1500" dirty="0"/>
          </a:p>
          <a:p>
            <a:pPr marL="685800" lvl="1" indent="-342900">
              <a:lnSpc>
                <a:spcPct val="112000"/>
              </a:lnSpc>
              <a:spcAft>
                <a:spcPts val="600"/>
              </a:spcAft>
              <a:buSzPct val="100000"/>
              <a:buChar char="◦"/>
            </a:pPr>
            <a:r>
              <a:rPr lang="en-US" sz="14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Provides a faster response but carries a risk of blocking legitimate traffic (false positives)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5623560"/>
            <a:ext cx="8046720" cy="685800"/>
          </a:xfrm>
          <a:prstGeom prst="roundRect">
            <a:avLst>
              <a:gd name="adj" fmla="val 10667"/>
            </a:avLst>
          </a:prstGeom>
          <a:solidFill>
            <a:srgbClr val="EAF0FB"/>
          </a:solidFill>
          <a:ln w="12700">
            <a:solidFill>
              <a:srgbClr val="C7D6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5623560"/>
            <a:ext cx="7589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difference: IDS is a smoke detector — it warns you. IPS is a sprinkler system — it acts automatically.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59536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3B5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IDS/IPS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Detection Methods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804672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71600"/>
            <a:ext cx="78638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Signature-Based Detection</a:t>
            </a:r>
            <a:endParaRPr lang="en-US" sz="1500" dirty="0"/>
          </a:p>
          <a:p>
            <a:pPr marL="685800" lvl="1" indent="-342900">
              <a:lnSpc>
                <a:spcPct val="112000"/>
              </a:lnSpc>
              <a:spcAft>
                <a:spcPts val="600"/>
              </a:spcAft>
              <a:buSzPct val="100000"/>
              <a:buChar char="◦"/>
            </a:pPr>
            <a:r>
              <a:rPr lang="en-US" sz="14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Compares traffic against a database of known attack patterns ("signatures")</a:t>
            </a:r>
            <a:endParaRPr lang="en-US" sz="1500" dirty="0"/>
          </a:p>
          <a:p>
            <a:pPr marL="685800" lvl="1" indent="-342900">
              <a:lnSpc>
                <a:spcPct val="112000"/>
              </a:lnSpc>
              <a:spcAft>
                <a:spcPts val="600"/>
              </a:spcAft>
              <a:buSzPct val="100000"/>
              <a:buChar char="◦"/>
            </a:pPr>
            <a:r>
              <a:rPr lang="en-US" sz="14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Very accurate for known threats, but blind to brand-new (zero-day) attacks</a:t>
            </a:r>
            <a:endParaRPr lang="en-US" sz="150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b="1" dirty="0">
                <a:solidFill>
                  <a:srgbClr val="3B5C8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Anomaly-Based Detection</a:t>
            </a:r>
            <a:endParaRPr lang="en-US" sz="1500" dirty="0"/>
          </a:p>
          <a:p>
            <a:pPr marL="685800" lvl="1" indent="-342900">
              <a:lnSpc>
                <a:spcPct val="112000"/>
              </a:lnSpc>
              <a:spcAft>
                <a:spcPts val="600"/>
              </a:spcAft>
              <a:buSzPct val="100000"/>
              <a:buChar char="◦"/>
            </a:pPr>
            <a:r>
              <a:rPr lang="en-US" sz="14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Builds a baseline of "normal" behavior and flags significant deviations</a:t>
            </a:r>
            <a:endParaRPr lang="en-US" sz="1500" dirty="0"/>
          </a:p>
          <a:p>
            <a:pPr marL="685800" lvl="1" indent="-342900">
              <a:lnSpc>
                <a:spcPct val="112000"/>
              </a:lnSpc>
              <a:spcAft>
                <a:spcPts val="600"/>
              </a:spcAft>
              <a:buSzPct val="100000"/>
              <a:buChar char="◦"/>
            </a:pPr>
            <a:r>
              <a:rPr lang="en-US" sz="14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Can catch unknown attacks, but may generate more false alarms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59536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3B5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IDS/IPS ·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Where IDS/IPS Are Placed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804672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554480"/>
            <a:ext cx="3566160" cy="1463040"/>
          </a:xfrm>
          <a:prstGeom prst="roundRect">
            <a:avLst>
              <a:gd name="adj" fmla="val 5000"/>
            </a:avLst>
          </a:prstGeom>
          <a:solidFill>
            <a:srgbClr val="EAF0FB"/>
          </a:solidFill>
          <a:ln w="16510">
            <a:solidFill>
              <a:srgbClr val="3B5C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64592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Network-Based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(NIDS / NIPS)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214884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Monitors traffic across the entire network, typically at a key chokepoint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46320" y="1554480"/>
            <a:ext cx="3566160" cy="1463040"/>
          </a:xfrm>
          <a:prstGeom prst="roundRect">
            <a:avLst>
              <a:gd name="adj" fmla="val 5000"/>
            </a:avLst>
          </a:prstGeom>
          <a:solidFill>
            <a:srgbClr val="FBE7E6"/>
          </a:solidFill>
          <a:ln w="16510">
            <a:solidFill>
              <a:srgbClr val="C039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164592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039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Host-Based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C039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(HIDS / HIPS)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0" y="214884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Installed on an individual device to monitor activity on that host only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3383280"/>
            <a:ext cx="78638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NIDS/NIPS commonly sit just inside the firewall to inspect all traffic entering the network</a:t>
            </a:r>
            <a:endParaRPr lang="en-US" sz="145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HIDS/HIPS run as agents on servers or workstations, watching file changes, logins, and processes</a:t>
            </a:r>
            <a:endParaRPr lang="en-US" sz="145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Large organizations typically deploy both for layered (defense-in-depth) coverage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59536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3B5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Conclusion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804672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417320"/>
            <a:ext cx="78638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TLS secures the communication channel; SET secures the payment transaction itself</a:t>
            </a:r>
            <a:endParaRPr lang="en-US" sz="155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Viruses, worms, and Trojans are the core threats these protective technologies defend against</a:t>
            </a:r>
            <a:endParaRPr lang="en-US" sz="155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Firewalls control what traffic is allowed to cross network boundaries</a:t>
            </a:r>
            <a:endParaRPr lang="en-US" sz="155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IDS/IPS add a further layer — detecting, and where possible stopping, intrusions in real time</a:t>
            </a:r>
            <a:endParaRPr lang="en-US" sz="155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 single tool is sufficient — real-world security relies on layering encryption, access control, and monitoring together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548640" y="5623560"/>
            <a:ext cx="8046720" cy="685800"/>
          </a:xfrm>
          <a:prstGeom prst="roundRect">
            <a:avLst>
              <a:gd name="adj" fmla="val 10667"/>
            </a:avLst>
          </a:prstGeom>
          <a:solidFill>
            <a:srgbClr val="EAF0FB"/>
          </a:solidFill>
          <a:ln w="12700">
            <a:solidFill>
              <a:srgbClr val="C7D6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5623560"/>
            <a:ext cx="7589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Together, these mechanisms form a layered defense: encrypt the data, verify the transaction, block the malware, filter the traffic, and watch for intrusions.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59536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Thank You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31520" y="36118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CBD8E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Questions &amp; Discussion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1986</Words>
  <Application>Microsoft Office PowerPoint</Application>
  <PresentationFormat>On-screen Show (4:3)</PresentationFormat>
  <Paragraphs>291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1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dharani karthick</cp:lastModifiedBy>
  <cp:revision>2</cp:revision>
  <dcterms:created xsi:type="dcterms:W3CDTF">2026-08-21T03:13:25Z</dcterms:created>
  <dcterms:modified xsi:type="dcterms:W3CDTF">2026-08-21T03:22:49Z</dcterms:modified>
</cp:coreProperties>
</file>